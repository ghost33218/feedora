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Tomorrow" panose="020B0604020202020204" charset="0"/>
      <p:regular r:id="rId12"/>
    </p:embeddedFont>
    <p:embeddedFont>
      <p:font typeface="Tomorrow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023395" y="4754667"/>
            <a:ext cx="621553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dirty="0">
                <a:solidFill>
                  <a:srgbClr val="A4F6F9"/>
                </a:solidFill>
                <a:latin typeface="Tomorrow"/>
                <a:ea typeface="Tomorrow"/>
                <a:cs typeface="Tomorrow"/>
                <a:sym typeface="Tomorrow"/>
              </a:rPr>
              <a:t>“Beyond The Edge of Possibility”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62944" y="2247900"/>
            <a:ext cx="11536442" cy="141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6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 xml:space="preserve">CONFLUENCE </a:t>
            </a:r>
            <a:r>
              <a:rPr lang="en-US" sz="9600" dirty="0">
                <a:solidFill>
                  <a:srgbClr val="A4F6F9"/>
                </a:solidFill>
                <a:latin typeface="Tomorrow"/>
                <a:ea typeface="Tomorrow"/>
                <a:cs typeface="Tomorrow"/>
                <a:sym typeface="Tomorrow"/>
              </a:rPr>
              <a:t>2.0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38707" y="6346091"/>
            <a:ext cx="1041058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 xml:space="preserve">OFFICIAL </a:t>
            </a:r>
            <a:r>
              <a:rPr lang="en-US" sz="5199">
                <a:solidFill>
                  <a:srgbClr val="A4F6F9"/>
                </a:solidFill>
                <a:latin typeface="Tomorrow"/>
                <a:ea typeface="Tomorrow"/>
                <a:cs typeface="Tomorrow"/>
                <a:sym typeface="Tomorrow"/>
              </a:rPr>
              <a:t>PITCH DECK</a:t>
            </a:r>
            <a:r>
              <a:rPr lang="en-US" sz="51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 xml:space="preserve">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-931746" y="613110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TextBox 12"/>
          <p:cNvSpPr txBox="1"/>
          <p:nvPr/>
        </p:nvSpPr>
        <p:spPr>
          <a:xfrm>
            <a:off x="1719416" y="871245"/>
            <a:ext cx="14849169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 dirty="0" err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Feedora</a:t>
            </a:r>
            <a:endParaRPr lang="en-US" sz="6199" b="1" dirty="0">
              <a:solidFill>
                <a:srgbClr val="A4F6F9"/>
              </a:solidFill>
              <a:latin typeface="Tomorrow Bold"/>
              <a:ea typeface="Tomorrow Bold"/>
              <a:cs typeface="Tomorrow Bold"/>
              <a:sym typeface="Tomorrow Bold"/>
            </a:endParaRPr>
          </a:p>
        </p:txBody>
      </p:sp>
      <p:sp>
        <p:nvSpPr>
          <p:cNvPr id="13" name="Subtitle 13"/>
          <p:cNvSpPr txBox="1"/>
          <p:nvPr/>
        </p:nvSpPr>
        <p:spPr>
          <a:xfrm>
            <a:off x="1719416" y="2620000"/>
            <a:ext cx="14849169" cy="6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n-US" sz="3600" dirty="0">
                <a:solidFill>
                  <a:srgbClr val="C7D2E3"/>
                </a:solidFill>
                <a:latin typeface="Calibri"/>
                <a:cs typeface="Calibri"/>
              </a:rPr>
              <a:t>AI-Powered Real-Time Surplus Food Donation Network</a:t>
            </a:r>
          </a:p>
        </p:txBody>
      </p:sp>
      <p:sp>
        <p:nvSpPr>
          <p:cNvPr id="14" name="Team 14"/>
          <p:cNvSpPr txBox="1"/>
          <p:nvPr/>
        </p:nvSpPr>
        <p:spPr>
          <a:xfrm>
            <a:off x="1719416" y="5200000"/>
            <a:ext cx="14849169" cy="35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n-US" sz="2400" b="1" dirty="0">
                <a:solidFill>
                  <a:srgbClr val="A4F6F9"/>
                </a:solidFill>
                <a:latin typeface="Calibri"/>
                <a:cs typeface="Calibri"/>
              </a:rPr>
              <a:t>Team Byteess</a:t>
            </a:r>
          </a:p>
          <a:p>
            <a:pPr algn="ctr"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Calibri"/>
                <a:cs typeface="Calibri"/>
              </a:rPr>
              <a:t>Anandi Mahajan – Lead Developer &amp; AI Systems  |  Tanmay Tripathi – Product Strategy &amp;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81000" y="536886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TextBox 12"/>
          <p:cNvSpPr txBox="1"/>
          <p:nvPr/>
        </p:nvSpPr>
        <p:spPr>
          <a:xfrm>
            <a:off x="4821176" y="1073798"/>
            <a:ext cx="9170551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6000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PROBLEM </a:t>
            </a:r>
            <a:r>
              <a:rPr lang="en-US" sz="6000" b="1" dirty="0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STATEMENT</a:t>
            </a:r>
          </a:p>
        </p:txBody>
      </p:sp>
      <p:sp>
        <p:nvSpPr>
          <p:cNvPr id="100" name="Card BG 1"/>
          <p:cNvSpPr/>
          <p:nvPr/>
        </p:nvSpPr>
        <p:spPr>
          <a:xfrm>
            <a:off x="1000000" y="2650000"/>
            <a:ext cx="7700000" cy="29500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Icon Circle 1"/>
          <p:cNvSpPr/>
          <p:nvPr/>
        </p:nvSpPr>
        <p:spPr>
          <a:xfrm>
            <a:off x="1350000" y="2980000"/>
            <a:ext cx="650000" cy="650000"/>
          </a:xfrm>
          <a:prstGeom prst="ellipse">
            <a:avLst/>
          </a:prstGeom>
          <a:solidFill>
            <a:srgbClr val="A4F6F9">
              <a:alpha val="18000"/>
            </a:srgbClr>
          </a:solidFill>
          <a:ln w="1270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400" b="1">
                <a:solidFill>
                  <a:srgbClr val="A4F6F9"/>
                </a:solidFill>
                <a:latin typeface="Calibri"/>
              </a:rPr>
              <a:t>1</a:t>
            </a:r>
          </a:p>
        </p:txBody>
      </p:sp>
      <p:sp>
        <p:nvSpPr>
          <p:cNvPr id="20" name="Content 20"/>
          <p:cNvSpPr txBox="1"/>
          <p:nvPr/>
        </p:nvSpPr>
        <p:spPr>
          <a:xfrm>
            <a:off x="2150000" y="2900000"/>
            <a:ext cx="6350000" cy="2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4F6F9"/>
                </a:solidFill>
                <a:latin typeface="Calibri"/>
                <a:cs typeface="Calibri"/>
              </a:rPr>
              <a:t>The Scale of Waste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C7D2E3"/>
                </a:solidFill>
                <a:latin typeface="Calibri"/>
                <a:cs typeface="Calibri"/>
              </a:rPr>
              <a:t>Restaurants, hotels, and stores discard tons of perfectly edible surplus food daily — simply because there is no fast way to redirect it.</a:t>
            </a:r>
          </a:p>
        </p:txBody>
      </p:sp>
      <p:sp>
        <p:nvSpPr>
          <p:cNvPr id="102" name="Card BG 2"/>
          <p:cNvSpPr/>
          <p:nvPr/>
        </p:nvSpPr>
        <p:spPr>
          <a:xfrm>
            <a:off x="9400000" y="2650000"/>
            <a:ext cx="7700000" cy="29500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Icon Circle 2"/>
          <p:cNvSpPr/>
          <p:nvPr/>
        </p:nvSpPr>
        <p:spPr>
          <a:xfrm>
            <a:off x="9750000" y="2980000"/>
            <a:ext cx="650000" cy="650000"/>
          </a:xfrm>
          <a:prstGeom prst="ellipse">
            <a:avLst/>
          </a:prstGeom>
          <a:solidFill>
            <a:srgbClr val="A4F6F9">
              <a:alpha val="18000"/>
            </a:srgbClr>
          </a:solidFill>
          <a:ln w="1270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400" b="1">
                <a:solidFill>
                  <a:srgbClr val="A4F6F9"/>
                </a:solidFill>
                <a:latin typeface="Calibri"/>
              </a:rPr>
              <a:t>2</a:t>
            </a:r>
          </a:p>
        </p:txBody>
      </p:sp>
      <p:sp>
        <p:nvSpPr>
          <p:cNvPr id="21" name="Content 21"/>
          <p:cNvSpPr txBox="1"/>
          <p:nvPr/>
        </p:nvSpPr>
        <p:spPr>
          <a:xfrm>
            <a:off x="10550000" y="2900000"/>
            <a:ext cx="6350000" cy="2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4F6F9"/>
                </a:solidFill>
                <a:latin typeface="Calibri"/>
                <a:cs typeface="Calibri"/>
              </a:rPr>
              <a:t>The Coordination Gap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C7D2E3"/>
                </a:solidFill>
                <a:latin typeface="Calibri"/>
                <a:cs typeface="Calibri"/>
              </a:rPr>
              <a:t>NGOs and shelters need consistent food supply, but have no real-time visibility into what surplus exists nearby, or when.</a:t>
            </a:r>
          </a:p>
        </p:txBody>
      </p:sp>
      <p:sp>
        <p:nvSpPr>
          <p:cNvPr id="104" name="Card BG 3"/>
          <p:cNvSpPr/>
          <p:nvPr/>
        </p:nvSpPr>
        <p:spPr>
          <a:xfrm>
            <a:off x="1000000" y="5850000"/>
            <a:ext cx="7700000" cy="29500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Icon Circle 3"/>
          <p:cNvSpPr/>
          <p:nvPr/>
        </p:nvSpPr>
        <p:spPr>
          <a:xfrm>
            <a:off x="1350000" y="6180000"/>
            <a:ext cx="650000" cy="650000"/>
          </a:xfrm>
          <a:prstGeom prst="ellipse">
            <a:avLst/>
          </a:prstGeom>
          <a:solidFill>
            <a:srgbClr val="A4F6F9">
              <a:alpha val="18000"/>
            </a:srgbClr>
          </a:solidFill>
          <a:ln w="1270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400" b="1">
                <a:solidFill>
                  <a:srgbClr val="A4F6F9"/>
                </a:solidFill>
                <a:latin typeface="Calibri"/>
              </a:rPr>
              <a:t>3</a:t>
            </a:r>
          </a:p>
        </p:txBody>
      </p:sp>
      <p:sp>
        <p:nvSpPr>
          <p:cNvPr id="22" name="Content 22"/>
          <p:cNvSpPr txBox="1"/>
          <p:nvPr/>
        </p:nvSpPr>
        <p:spPr>
          <a:xfrm>
            <a:off x="2150000" y="6100000"/>
            <a:ext cx="6350000" cy="2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4F6F9"/>
                </a:solidFill>
                <a:latin typeface="Calibri"/>
                <a:cs typeface="Calibri"/>
              </a:rPr>
              <a:t>Time-Sensitive Logistics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C7D2E3"/>
                </a:solidFill>
                <a:latin typeface="Calibri"/>
                <a:cs typeface="Calibri"/>
              </a:rPr>
              <a:t>Surplus food has a short safe window. Manual calls, emails, and ad-hoc pickups are too slow — good food expires before it reaches anyone.</a:t>
            </a:r>
          </a:p>
        </p:txBody>
      </p:sp>
      <p:sp>
        <p:nvSpPr>
          <p:cNvPr id="106" name="Card BG 4"/>
          <p:cNvSpPr/>
          <p:nvPr/>
        </p:nvSpPr>
        <p:spPr>
          <a:xfrm>
            <a:off x="9400000" y="5850000"/>
            <a:ext cx="7700000" cy="29500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Icon Circle 4"/>
          <p:cNvSpPr/>
          <p:nvPr/>
        </p:nvSpPr>
        <p:spPr>
          <a:xfrm>
            <a:off x="9750000" y="6180000"/>
            <a:ext cx="650000" cy="650000"/>
          </a:xfrm>
          <a:prstGeom prst="ellipse">
            <a:avLst/>
          </a:prstGeom>
          <a:solidFill>
            <a:srgbClr val="A4F6F9">
              <a:alpha val="18000"/>
            </a:srgbClr>
          </a:solidFill>
          <a:ln w="1270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400" b="1">
                <a:solidFill>
                  <a:srgbClr val="A4F6F9"/>
                </a:solidFill>
                <a:latin typeface="Calibri"/>
              </a:rPr>
              <a:t>4</a:t>
            </a:r>
          </a:p>
        </p:txBody>
      </p:sp>
      <p:sp>
        <p:nvSpPr>
          <p:cNvPr id="23" name="Content 23"/>
          <p:cNvSpPr txBox="1"/>
          <p:nvPr/>
        </p:nvSpPr>
        <p:spPr>
          <a:xfrm>
            <a:off x="10550000" y="6100000"/>
            <a:ext cx="6350000" cy="2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4F6F9"/>
                </a:solidFill>
                <a:latin typeface="Calibri"/>
                <a:cs typeface="Calibri"/>
              </a:rPr>
              <a:t>No Shared System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C7D2E3"/>
                </a:solidFill>
                <a:latin typeface="Calibri"/>
                <a:cs typeface="Calibri"/>
              </a:rPr>
              <a:t>Donors, NGOs, and volunteers operate in silos with no shared platform to match supply with need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81000" y="536886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516802" y="871245"/>
            <a:ext cx="11254397" cy="719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4800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EXISTING SOLUTION </a:t>
            </a:r>
            <a:r>
              <a:rPr lang="en-US" sz="4800" b="1" dirty="0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AND GAPS</a:t>
            </a:r>
          </a:p>
        </p:txBody>
      </p:sp>
      <p:sp>
        <p:nvSpPr>
          <p:cNvPr id="20" name="Content 20"/>
          <p:cNvSpPr txBox="1"/>
          <p:nvPr/>
        </p:nvSpPr>
        <p:spPr>
          <a:xfrm>
            <a:off x="1000000" y="2400000"/>
            <a:ext cx="7700000" cy="67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2E3"/>
                </a:solidFill>
                <a:latin typeface="Calibri"/>
                <a:cs typeface="Calibri"/>
              </a:rPr>
              <a:t>Existing Solutions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C7D2E3"/>
                </a:solidFill>
                <a:latin typeface="Calibri"/>
                <a:cs typeface="Calibri"/>
              </a:rPr>
              <a:t>Manual phone/WhatsApp coordination between restaurants and NGOs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C7D2E3"/>
                </a:solidFill>
                <a:latin typeface="Calibri"/>
                <a:cs typeface="Calibri"/>
              </a:rPr>
              <a:t>Generic classifieds or social media posts for surplus food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C7D2E3"/>
                </a:solidFill>
                <a:latin typeface="Calibri"/>
                <a:cs typeface="Calibri"/>
              </a:rPr>
              <a:t>City-specific food banks with fixed pickup schedules</a:t>
            </a:r>
          </a:p>
        </p:txBody>
      </p:sp>
      <p:sp>
        <p:nvSpPr>
          <p:cNvPr id="200" name="Divider"/>
          <p:cNvSpPr/>
          <p:nvPr/>
        </p:nvSpPr>
        <p:spPr>
          <a:xfrm>
            <a:off x="9100000" y="2450000"/>
            <a:ext cx="12700" cy="6600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ontent Gaps"/>
          <p:cNvSpPr txBox="1"/>
          <p:nvPr/>
        </p:nvSpPr>
        <p:spPr>
          <a:xfrm>
            <a:off x="9450000" y="2400000"/>
            <a:ext cx="7650000" cy="67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4F6F9"/>
                </a:solidFill>
                <a:latin typeface="Calibri"/>
                <a:cs typeface="Calibri"/>
              </a:rPr>
              <a:t>Gaps That Remain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/>
                <a:cs typeface="Calibri"/>
              </a:rPr>
              <a:t>No real-time matching — by the time a call connects, food may already be wasted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/>
                <a:cs typeface="Calibri"/>
              </a:rPr>
              <a:t>No way to discover the nearest available NGO automatically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/>
                <a:cs typeface="Calibri"/>
              </a:rPr>
              <a:t>No tracking of pickup, delivery, or actual impact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/>
                <a:cs typeface="Calibri"/>
              </a:rPr>
              <a:t>No incentive system for donors to participate consistently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81000" y="536886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626596" y="1073798"/>
            <a:ext cx="11254397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PROPOSED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SOLUTION</a:t>
            </a:r>
          </a:p>
        </p:txBody>
      </p:sp>
      <p:sp>
        <p:nvSpPr>
          <p:cNvPr id="20" name="Content 20"/>
          <p:cNvSpPr txBox="1"/>
          <p:nvPr/>
        </p:nvSpPr>
        <p:spPr>
          <a:xfrm>
            <a:off x="1000000" y="2150000"/>
            <a:ext cx="16100000" cy="735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800" dirty="0" err="1">
                <a:solidFill>
                  <a:srgbClr val="FFFFFF"/>
                </a:solidFill>
                <a:latin typeface="Calibri"/>
                <a:cs typeface="Calibri"/>
              </a:rPr>
              <a:t>Feedora</a:t>
            </a:r>
            <a:r>
              <a:rPr lang="en-US" sz="2800" dirty="0">
                <a:solidFill>
                  <a:srgbClr val="FFFFFF"/>
                </a:solidFill>
                <a:latin typeface="Calibri"/>
                <a:cs typeface="Calibri"/>
              </a:rPr>
              <a:t xml:space="preserve"> is a real-time platform that connects surplus food donors directly with nearby NGOs and volunteers — like a delivery app, but for donations.</a:t>
            </a:r>
          </a:p>
          <a:p>
            <a:pPr marL="0" indent="0" algn="just">
              <a:spcBef>
                <a:spcPts val="26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Post Surplus in Seconds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Donors post quantity, food type, and expiry window with one tap</a:t>
            </a:r>
          </a:p>
          <a:p>
            <a:pPr marL="0" indent="0" algn="just">
              <a:spcBef>
                <a:spcPts val="26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Smart Auto-Matching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AI-based scoring matches surplus to the best-fit NGO by distance, urgency, and need</a:t>
            </a:r>
          </a:p>
          <a:p>
            <a:pPr marL="0" indent="0" algn="just">
              <a:spcBef>
                <a:spcPts val="26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One-Tap Claim &amp; Pickup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NGOs claim instantly; volunteers are auto-assigned for delivery</a:t>
            </a:r>
          </a:p>
          <a:p>
            <a:pPr marL="0" indent="0" algn="just">
              <a:spcBef>
                <a:spcPts val="26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Live Impact Dashboard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Real-time tracking of meals saved, CO2 avoided, and people fed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81000" y="536886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626596" y="871245"/>
            <a:ext cx="11254397" cy="1605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UNIQUE SELLING PROPOSITION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(USP)</a:t>
            </a:r>
          </a:p>
        </p:txBody>
      </p:sp>
      <p:sp>
        <p:nvSpPr>
          <p:cNvPr id="20" name="Content 20"/>
          <p:cNvSpPr txBox="1"/>
          <p:nvPr/>
        </p:nvSpPr>
        <p:spPr>
          <a:xfrm>
            <a:off x="1000000" y="2650000"/>
            <a:ext cx="7700000" cy="295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4F6F9"/>
                </a:solidFill>
                <a:latin typeface="Calibri"/>
                <a:cs typeface="Calibri"/>
              </a:rPr>
              <a:t>01  Real-Time, Not Manual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C7D2E3"/>
                </a:solidFill>
                <a:latin typeface="Calibri"/>
                <a:cs typeface="Calibri"/>
              </a:rPr>
              <a:t>Live posting and matching replaces slow calls and messages — food moves before it spoils</a:t>
            </a:r>
          </a:p>
        </p:txBody>
      </p:sp>
      <p:sp>
        <p:nvSpPr>
          <p:cNvPr id="300" name="USP Card 2 BG"/>
          <p:cNvSpPr/>
          <p:nvPr/>
        </p:nvSpPr>
        <p:spPr>
          <a:xfrm>
            <a:off x="9400000" y="2650000"/>
            <a:ext cx="7700000" cy="2950000"/>
          </a:xfrm>
          <a:prstGeom prst="roundRect">
            <a:avLst>
              <a:gd name="adj" fmla="val 4000"/>
            </a:avLst>
          </a:prstGeom>
          <a:solidFill>
            <a:srgbClr val="A4F6F9">
              <a:alpha val="10000"/>
            </a:srgbClr>
          </a:solidFill>
          <a:ln w="9525">
            <a:solidFill>
              <a:srgbClr val="A4F6F9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1" name="USP Content 2"/>
          <p:cNvSpPr txBox="1"/>
          <p:nvPr/>
        </p:nvSpPr>
        <p:spPr>
          <a:xfrm>
            <a:off x="9750000" y="2900000"/>
            <a:ext cx="7000000" cy="2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4F6F9"/>
                </a:solidFill>
                <a:latin typeface="Calibri"/>
                <a:cs typeface="Calibri"/>
              </a:rPr>
              <a:t>02  AI-Powered Matching Engine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  <a:cs typeface="Calibri"/>
              </a:rPr>
              <a:t>Live scoring model ranks NGOs by distance, urgency, and reliability — automatically routing every post the moment it's created, no manual matching, no dispatcher</a:t>
            </a:r>
          </a:p>
        </p:txBody>
      </p:sp>
      <p:sp>
        <p:nvSpPr>
          <p:cNvPr id="302" name="USP Card 3 BG"/>
          <p:cNvSpPr/>
          <p:nvPr/>
        </p:nvSpPr>
        <p:spPr>
          <a:xfrm>
            <a:off x="1000000" y="5850000"/>
            <a:ext cx="7700000" cy="29500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USP Content 3"/>
          <p:cNvSpPr txBox="1"/>
          <p:nvPr/>
        </p:nvSpPr>
        <p:spPr>
          <a:xfrm>
            <a:off x="1350000" y="6100000"/>
            <a:ext cx="7000000" cy="2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4F6F9"/>
                </a:solidFill>
                <a:latin typeface="Calibri"/>
                <a:cs typeface="Calibri"/>
              </a:rPr>
              <a:t>03  End-to-End Visibility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C7D2E3"/>
                </a:solidFill>
                <a:latin typeface="Calibri"/>
                <a:cs typeface="Calibri"/>
              </a:rPr>
              <a:t>From posting to pickup to delivery, every step is tracked — for the first time donors see their real impact</a:t>
            </a:r>
          </a:p>
        </p:txBody>
      </p:sp>
      <p:sp>
        <p:nvSpPr>
          <p:cNvPr id="304" name="USP Card 4 BG"/>
          <p:cNvSpPr/>
          <p:nvPr/>
        </p:nvSpPr>
        <p:spPr>
          <a:xfrm>
            <a:off x="9400000" y="5850000"/>
            <a:ext cx="7700000" cy="2950000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" name="USP Content 4"/>
          <p:cNvSpPr txBox="1"/>
          <p:nvPr/>
        </p:nvSpPr>
        <p:spPr>
          <a:xfrm>
            <a:off x="9750000" y="6100000"/>
            <a:ext cx="7000000" cy="2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4F6F9"/>
                </a:solidFill>
                <a:latin typeface="Calibri"/>
                <a:cs typeface="Calibri"/>
              </a:rPr>
              <a:t>04  Built for Everyone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C7D2E3"/>
                </a:solidFill>
                <a:latin typeface="Calibri"/>
                <a:cs typeface="Calibri"/>
              </a:rPr>
              <a:t>SMS fallback for NGOs without smartphones ensures no organization is left 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81000" y="536886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779253" y="1143000"/>
            <a:ext cx="11254397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SYSTEM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ARCHITECTURE</a:t>
            </a:r>
          </a:p>
        </p:txBody>
      </p:sp>
      <p:sp>
        <p:nvSpPr>
          <p:cNvPr id="20" name="Content 20"/>
          <p:cNvSpPr txBox="1"/>
          <p:nvPr/>
        </p:nvSpPr>
        <p:spPr>
          <a:xfrm>
            <a:off x="1300000" y="2350000"/>
            <a:ext cx="3000000" cy="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4F6F9"/>
                </a:solidFill>
                <a:latin typeface="Calibri"/>
                <a:cs typeface="Calibri"/>
              </a:rPr>
              <a:t>Flow Overview</a:t>
            </a:r>
          </a:p>
        </p:txBody>
      </p:sp>
      <p:sp>
        <p:nvSpPr>
          <p:cNvPr id="400" name="Track Line"/>
          <p:cNvSpPr/>
          <p:nvPr/>
        </p:nvSpPr>
        <p:spPr>
          <a:xfrm>
            <a:off x="1675000" y="3150000"/>
            <a:ext cx="12700" cy="5450000"/>
          </a:xfrm>
          <a:prstGeom prst="rect">
            <a:avLst/>
          </a:prstGeom>
          <a:solidFill>
            <a:srgbClr val="A4F6F9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1" name="Step Circle 1"/>
          <p:cNvSpPr/>
          <p:nvPr/>
        </p:nvSpPr>
        <p:spPr>
          <a:xfrm>
            <a:off x="1370000" y="3150000"/>
            <a:ext cx="620000" cy="62000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200" b="1">
                <a:solidFill>
                  <a:srgbClr val="A4F6F9"/>
                </a:solidFill>
                <a:latin typeface="Calibri"/>
              </a:rPr>
              <a:t>1</a:t>
            </a:r>
          </a:p>
        </p:txBody>
      </p:sp>
      <p:sp>
        <p:nvSpPr>
          <p:cNvPr id="402" name="Step Text 1"/>
          <p:cNvSpPr txBox="1"/>
          <p:nvPr/>
        </p:nvSpPr>
        <p:spPr>
          <a:xfrm>
            <a:off x="2350000" y="3270000"/>
            <a:ext cx="14700000" cy="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  <a:cs typeface="Calibri"/>
              </a:rPr>
              <a:t xml:space="preserve">Donor App  </a:t>
            </a:r>
            <a:r>
              <a:rPr lang="en-US" sz="2000" dirty="0">
                <a:solidFill>
                  <a:srgbClr val="C7D2E3"/>
                </a:solidFill>
                <a:latin typeface="Calibri"/>
                <a:cs typeface="Calibri"/>
              </a:rPr>
              <a:t>→  Post surplus food (type, quantity, expiry, location)</a:t>
            </a:r>
          </a:p>
        </p:txBody>
      </p:sp>
      <p:sp>
        <p:nvSpPr>
          <p:cNvPr id="403" name="Step Circle 2"/>
          <p:cNvSpPr/>
          <p:nvPr/>
        </p:nvSpPr>
        <p:spPr>
          <a:xfrm>
            <a:off x="1370000" y="4180000"/>
            <a:ext cx="620000" cy="620000"/>
          </a:xfrm>
          <a:prstGeom prst="ellipse">
            <a:avLst/>
          </a:prstGeom>
          <a:solidFill>
            <a:srgbClr val="A4F6F9">
              <a:alpha val="20000"/>
            </a:srgbClr>
          </a:solidFill>
          <a:ln w="1905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200" b="1">
                <a:solidFill>
                  <a:srgbClr val="A4F6F9"/>
                </a:solidFill>
                <a:latin typeface="Calibri"/>
              </a:rPr>
              <a:t>2</a:t>
            </a:r>
          </a:p>
        </p:txBody>
      </p:sp>
      <p:sp>
        <p:nvSpPr>
          <p:cNvPr id="404" name="Step Text 2"/>
          <p:cNvSpPr txBox="1"/>
          <p:nvPr/>
        </p:nvSpPr>
        <p:spPr>
          <a:xfrm>
            <a:off x="2350000" y="4300000"/>
            <a:ext cx="14700000" cy="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4F6F9"/>
                </a:solidFill>
                <a:latin typeface="Calibri"/>
                <a:cs typeface="Calibri"/>
              </a:rPr>
              <a:t xml:space="preserve">Matching Engine  </a:t>
            </a:r>
            <a:r>
              <a:rPr lang="en-US" sz="2000" dirty="0">
                <a:solidFill>
                  <a:srgbClr val="C7D2E3"/>
                </a:solidFill>
                <a:latin typeface="Calibri"/>
                <a:cs typeface="Calibri"/>
              </a:rPr>
              <a:t>→  AI scores nearby NGOs by distance, urgency &amp; reliability</a:t>
            </a:r>
          </a:p>
        </p:txBody>
      </p:sp>
      <p:sp>
        <p:nvSpPr>
          <p:cNvPr id="405" name="Step Circle 3"/>
          <p:cNvSpPr/>
          <p:nvPr/>
        </p:nvSpPr>
        <p:spPr>
          <a:xfrm>
            <a:off x="1370000" y="5210000"/>
            <a:ext cx="620000" cy="62000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200" b="1">
                <a:solidFill>
                  <a:srgbClr val="A4F6F9"/>
                </a:solidFill>
                <a:latin typeface="Calibri"/>
              </a:rPr>
              <a:t>3</a:t>
            </a:r>
          </a:p>
        </p:txBody>
      </p:sp>
      <p:sp>
        <p:nvSpPr>
          <p:cNvPr id="406" name="Step Text 3"/>
          <p:cNvSpPr txBox="1"/>
          <p:nvPr/>
        </p:nvSpPr>
        <p:spPr>
          <a:xfrm>
            <a:off x="2350000" y="5330000"/>
            <a:ext cx="14700000" cy="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  <a:cs typeface="Calibri"/>
              </a:rPr>
              <a:t xml:space="preserve">NGO App  </a:t>
            </a:r>
            <a:r>
              <a:rPr lang="en-US" sz="2000" dirty="0">
                <a:solidFill>
                  <a:srgbClr val="C7D2E3"/>
                </a:solidFill>
                <a:latin typeface="Calibri"/>
                <a:cs typeface="Calibri"/>
              </a:rPr>
              <a:t>→  Receives live notification, claims food in one tap</a:t>
            </a:r>
          </a:p>
        </p:txBody>
      </p:sp>
      <p:sp>
        <p:nvSpPr>
          <p:cNvPr id="407" name="Step Circle 4"/>
          <p:cNvSpPr/>
          <p:nvPr/>
        </p:nvSpPr>
        <p:spPr>
          <a:xfrm>
            <a:off x="1370000" y="6240000"/>
            <a:ext cx="620000" cy="620000"/>
          </a:xfrm>
          <a:prstGeom prst="ellipse">
            <a:avLst/>
          </a:prstGeom>
          <a:solidFill>
            <a:srgbClr val="A4F6F9">
              <a:alpha val="20000"/>
            </a:srgbClr>
          </a:solidFill>
          <a:ln w="1905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200" b="1">
                <a:solidFill>
                  <a:srgbClr val="A4F6F9"/>
                </a:solidFill>
                <a:latin typeface="Calibri"/>
              </a:rPr>
              <a:t>4</a:t>
            </a:r>
          </a:p>
        </p:txBody>
      </p:sp>
      <p:sp>
        <p:nvSpPr>
          <p:cNvPr id="408" name="Step Text 4"/>
          <p:cNvSpPr txBox="1"/>
          <p:nvPr/>
        </p:nvSpPr>
        <p:spPr>
          <a:xfrm>
            <a:off x="2350000" y="6360000"/>
            <a:ext cx="14700000" cy="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4F6F9"/>
                </a:solidFill>
                <a:latin typeface="Calibri"/>
                <a:cs typeface="Calibri"/>
              </a:rPr>
              <a:t xml:space="preserve">Volunteer Layer  </a:t>
            </a:r>
            <a:r>
              <a:rPr lang="en-US" sz="2000" dirty="0">
                <a:solidFill>
                  <a:srgbClr val="C7D2E3"/>
                </a:solidFill>
                <a:latin typeface="Calibri"/>
                <a:cs typeface="Calibri"/>
              </a:rPr>
              <a:t>→  Auto-assigned for pickup &amp; delivery with route optimization</a:t>
            </a:r>
          </a:p>
        </p:txBody>
      </p:sp>
      <p:sp>
        <p:nvSpPr>
          <p:cNvPr id="409" name="Step Circle 5"/>
          <p:cNvSpPr/>
          <p:nvPr/>
        </p:nvSpPr>
        <p:spPr>
          <a:xfrm>
            <a:off x="1370000" y="7270000"/>
            <a:ext cx="620000" cy="620000"/>
          </a:xfrm>
          <a:prstGeom prst="ellipse">
            <a:avLst/>
          </a:prstGeom>
          <a:solidFill>
            <a:srgbClr val="0A0E1A"/>
          </a:solidFill>
          <a:ln w="19050">
            <a:solidFill>
              <a:srgbClr val="A4F6F9"/>
            </a:solidFill>
          </a:ln>
        </p:spPr>
        <p:txBody>
          <a:bodyPr anchor="ctr" lIns="0" tIns="0" rIns="0" bIns="0"/>
          <a:lstStyle/>
          <a:p>
            <a:pPr algn="ctr"/>
            <a:r>
              <a:rPr lang="en-US" sz="2200" b="1">
                <a:solidFill>
                  <a:srgbClr val="A4F6F9"/>
                </a:solidFill>
                <a:latin typeface="Calibri"/>
              </a:rPr>
              <a:t>5</a:t>
            </a:r>
          </a:p>
        </p:txBody>
      </p:sp>
      <p:sp>
        <p:nvSpPr>
          <p:cNvPr id="410" name="Step Text 5"/>
          <p:cNvSpPr txBox="1"/>
          <p:nvPr/>
        </p:nvSpPr>
        <p:spPr>
          <a:xfrm>
            <a:off x="2350000" y="7390000"/>
            <a:ext cx="14700000" cy="5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  <a:cs typeface="Calibri"/>
              </a:rPr>
              <a:t xml:space="preserve">Impact Dashboard  </a:t>
            </a:r>
            <a:r>
              <a:rPr lang="en-US" sz="2000" dirty="0">
                <a:solidFill>
                  <a:srgbClr val="C7D2E3"/>
                </a:solidFill>
                <a:latin typeface="Calibri"/>
                <a:cs typeface="Calibri"/>
              </a:rPr>
              <a:t>→  Updates meals saved, CO2 avoided &amp; donation receipts in real time</a:t>
            </a:r>
          </a:p>
        </p:txBody>
      </p:sp>
      <p:sp>
        <p:nvSpPr>
          <p:cNvPr id="411" name="Core Components Bar"/>
          <p:cNvSpPr/>
          <p:nvPr/>
        </p:nvSpPr>
        <p:spPr>
          <a:xfrm>
            <a:off x="1000000" y="8350000"/>
            <a:ext cx="16100000" cy="7500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2" name="Core Components Text"/>
          <p:cNvSpPr txBox="1"/>
          <p:nvPr/>
        </p:nvSpPr>
        <p:spPr>
          <a:xfrm>
            <a:off x="1350000" y="8550000"/>
            <a:ext cx="15400000" cy="4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4F6F9"/>
                </a:solidFill>
                <a:latin typeface="Calibri"/>
                <a:cs typeface="Calibri"/>
              </a:rPr>
              <a:t xml:space="preserve">Core Components:  </a:t>
            </a:r>
            <a:r>
              <a:rPr lang="en-US" sz="1600" dirty="0">
                <a:solidFill>
                  <a:srgbClr val="C7D2E3"/>
                </a:solidFill>
                <a:latin typeface="Calibri"/>
                <a:cs typeface="Calibri"/>
              </a:rPr>
              <a:t>Mobile/Web App  |  Firebase (Auth, Firestore, Functions)  |  Google Maps API  |  AI Matching &amp; NLP Layer  |  Push/SMS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81000" y="536886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516802" y="1143000"/>
            <a:ext cx="11254397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TECH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STACK</a:t>
            </a:r>
          </a:p>
        </p:txBody>
      </p:sp>
      <p:sp>
        <p:nvSpPr>
          <p:cNvPr id="20" name="Content 20"/>
          <p:cNvSpPr txBox="1"/>
          <p:nvPr/>
        </p:nvSpPr>
        <p:spPr>
          <a:xfrm>
            <a:off x="1000000" y="2150000"/>
            <a:ext cx="16100000" cy="735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Frontend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React.js (Web) + Tailwind CSS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Backend / Database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Firebase — Firestore, Authentication, Cloud Functions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Maps &amp; Geolocation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Google Maps API for live location &amp; distance matching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AI / Matching Layer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Custom scoring algorithm + Claude/GPT API for auto-categorizing food posts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Notifications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Firebase Cloud Messaging (push) + Twilio (SMS fallback for NGOs)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Hosting &amp; Deployment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Vercel (frontend) + Firebase Functions (backend)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503630" y="732221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779253" y="1073798"/>
            <a:ext cx="11254397" cy="8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IMPACT </a:t>
            </a:r>
            <a:r>
              <a:rPr lang="en-US" sz="6199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&amp;</a:t>
            </a:r>
            <a:r>
              <a:rPr lang="en-US" sz="61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 BENEFITS</a:t>
            </a:r>
          </a:p>
        </p:txBody>
      </p:sp>
      <p:sp>
        <p:nvSpPr>
          <p:cNvPr id="20" name="Content 20"/>
          <p:cNvSpPr txBox="1"/>
          <p:nvPr/>
        </p:nvSpPr>
        <p:spPr>
          <a:xfrm>
            <a:off x="1000000" y="2200000"/>
            <a:ext cx="5200000" cy="23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A4F6F9"/>
                </a:solidFill>
                <a:latin typeface="Calibri"/>
                <a:cs typeface="Calibri"/>
              </a:rPr>
              <a:t>1000+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700" dirty="0">
                <a:solidFill>
                  <a:srgbClr val="C7D2E3"/>
                </a:solidFill>
                <a:latin typeface="Calibri"/>
                <a:cs typeface="Calibri"/>
              </a:rPr>
              <a:t>Meals saved per month per city, at scale</a:t>
            </a:r>
          </a:p>
        </p:txBody>
      </p:sp>
      <p:sp>
        <p:nvSpPr>
          <p:cNvPr id="500" name="Stat Divider 1"/>
          <p:cNvSpPr/>
          <p:nvPr/>
        </p:nvSpPr>
        <p:spPr>
          <a:xfrm>
            <a:off x="6500000" y="2300000"/>
            <a:ext cx="12700" cy="2050000"/>
          </a:xfrm>
          <a:prstGeom prst="rect">
            <a:avLst/>
          </a:prstGeom>
          <a:solidFill>
            <a:srgbClr val="A4F6F9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" name="Stat 2"/>
          <p:cNvSpPr txBox="1"/>
          <p:nvPr/>
        </p:nvSpPr>
        <p:spPr>
          <a:xfrm>
            <a:off x="6900000" y="2200000"/>
            <a:ext cx="5200000" cy="23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A4F6F9"/>
                </a:solidFill>
                <a:latin typeface="Calibri"/>
                <a:cs typeface="Calibri"/>
              </a:rPr>
              <a:t>40%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700" dirty="0">
                <a:solidFill>
                  <a:srgbClr val="C7D2E3"/>
                </a:solidFill>
                <a:latin typeface="Calibri"/>
                <a:cs typeface="Calibri"/>
              </a:rPr>
              <a:t>Reduction in coordination time vs manual outreach</a:t>
            </a:r>
          </a:p>
        </p:txBody>
      </p:sp>
      <p:sp>
        <p:nvSpPr>
          <p:cNvPr id="502" name="Stat Divider 2"/>
          <p:cNvSpPr/>
          <p:nvPr/>
        </p:nvSpPr>
        <p:spPr>
          <a:xfrm>
            <a:off x="12400000" y="2300000"/>
            <a:ext cx="12700" cy="2050000"/>
          </a:xfrm>
          <a:prstGeom prst="rect">
            <a:avLst/>
          </a:prstGeom>
          <a:solidFill>
            <a:srgbClr val="A4F6F9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Stat 3"/>
          <p:cNvSpPr txBox="1"/>
          <p:nvPr/>
        </p:nvSpPr>
        <p:spPr>
          <a:xfrm>
            <a:off x="12800000" y="2200000"/>
            <a:ext cx="4300000" cy="23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A4F6F9"/>
                </a:solidFill>
                <a:latin typeface="Calibri"/>
                <a:cs typeface="Calibri"/>
              </a:rPr>
              <a:t>0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700" dirty="0">
                <a:solidFill>
                  <a:srgbClr val="C7D2E3"/>
                </a:solidFill>
                <a:latin typeface="Calibri"/>
                <a:cs typeface="Calibri"/>
              </a:rPr>
              <a:t>NGOs left out — SMS fallback ensures full inclusion</a:t>
            </a:r>
          </a:p>
        </p:txBody>
      </p:sp>
      <p:sp>
        <p:nvSpPr>
          <p:cNvPr id="504" name="Broader Benefits Card"/>
          <p:cNvSpPr/>
          <p:nvPr/>
        </p:nvSpPr>
        <p:spPr>
          <a:xfrm>
            <a:off x="1000000" y="5050000"/>
            <a:ext cx="16100000" cy="3850000"/>
          </a:xfrm>
          <a:prstGeom prst="roundRect">
            <a:avLst>
              <a:gd name="adj" fmla="val 3500"/>
            </a:avLst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ontent 20"/>
          <p:cNvSpPr txBox="1"/>
          <p:nvPr/>
        </p:nvSpPr>
        <p:spPr>
          <a:xfrm>
            <a:off x="1400000" y="5400000"/>
            <a:ext cx="7300000" cy="33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4F6F9"/>
                </a:solidFill>
                <a:latin typeface="Calibri"/>
                <a:cs typeface="Calibri"/>
              </a:rPr>
              <a:t>Broader Benefits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/>
                <a:cs typeface="Calibri"/>
              </a:rPr>
              <a:t>Reduces landfill waste and methane emissions from rotting food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/>
                <a:cs typeface="Calibri"/>
              </a:rPr>
              <a:t>Gives donors verifiable impact &amp; tax-deduction receipts</a:t>
            </a:r>
          </a:p>
        </p:txBody>
      </p:sp>
      <p:sp>
        <p:nvSpPr>
          <p:cNvPr id="505" name="Content 21"/>
          <p:cNvSpPr txBox="1"/>
          <p:nvPr/>
        </p:nvSpPr>
        <p:spPr>
          <a:xfrm>
            <a:off x="9400000" y="5780000"/>
            <a:ext cx="7300000" cy="29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342900" indent="-342900" algn="l"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/>
                <a:cs typeface="Calibri"/>
              </a:rPr>
              <a:t>Builds a reliable, transparent supply chain for NGOs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/>
                <a:cs typeface="Calibri"/>
              </a:rPr>
              <a:t>Strengthens community trust between businesses and local shelters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9297" b="-929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862388" y="4823260"/>
            <a:ext cx="371475" cy="950652"/>
          </a:xfrm>
          <a:custGeom>
            <a:avLst/>
            <a:gdLst/>
            <a:ahLst/>
            <a:cxnLst/>
            <a:rect l="l" t="t" r="r" b="b"/>
            <a:pathLst>
              <a:path w="371475" h="950652">
                <a:moveTo>
                  <a:pt x="0" y="0"/>
                </a:moveTo>
                <a:lnTo>
                  <a:pt x="371474" y="0"/>
                </a:lnTo>
                <a:lnTo>
                  <a:pt x="37147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01138" y="4823260"/>
            <a:ext cx="305314" cy="861374"/>
          </a:xfrm>
          <a:custGeom>
            <a:avLst/>
            <a:gdLst/>
            <a:ahLst/>
            <a:cxnLst/>
            <a:rect l="l" t="t" r="r" b="b"/>
            <a:pathLst>
              <a:path w="305314" h="861374">
                <a:moveTo>
                  <a:pt x="0" y="0"/>
                </a:moveTo>
                <a:lnTo>
                  <a:pt x="305314" y="0"/>
                </a:lnTo>
                <a:lnTo>
                  <a:pt x="305314" y="861374"/>
                </a:lnTo>
                <a:lnTo>
                  <a:pt x="0" y="8613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4138" y="4823260"/>
            <a:ext cx="276225" cy="950652"/>
          </a:xfrm>
          <a:custGeom>
            <a:avLst/>
            <a:gdLst/>
            <a:ahLst/>
            <a:cxnLst/>
            <a:rect l="l" t="t" r="r" b="b"/>
            <a:pathLst>
              <a:path w="276225" h="950652">
                <a:moveTo>
                  <a:pt x="0" y="0"/>
                </a:moveTo>
                <a:lnTo>
                  <a:pt x="276224" y="0"/>
                </a:lnTo>
                <a:lnTo>
                  <a:pt x="276224" y="950652"/>
                </a:lnTo>
                <a:lnTo>
                  <a:pt x="0" y="950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81000" y="381000"/>
            <a:ext cx="2095500" cy="2095500"/>
            <a:chOff x="0" y="0"/>
            <a:chExt cx="2794000" cy="279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85830" y="381000"/>
            <a:ext cx="2095500" cy="2095500"/>
            <a:chOff x="0" y="0"/>
            <a:chExt cx="2794000" cy="279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94000" cy="2794000"/>
            </a:xfrm>
            <a:custGeom>
              <a:avLst/>
              <a:gdLst/>
              <a:ahLst/>
              <a:cxnLst/>
              <a:rect l="l" t="t" r="r" b="b"/>
              <a:pathLst>
                <a:path w="2794000" h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381000" y="536886"/>
            <a:ext cx="17500330" cy="9173779"/>
          </a:xfrm>
          <a:custGeom>
            <a:avLst/>
            <a:gdLst/>
            <a:ahLst/>
            <a:cxnLst/>
            <a:rect l="l" t="t" r="r" b="b"/>
            <a:pathLst>
              <a:path w="17500330" h="9173779">
                <a:moveTo>
                  <a:pt x="0" y="0"/>
                </a:moveTo>
                <a:lnTo>
                  <a:pt x="17500330" y="0"/>
                </a:lnTo>
                <a:lnTo>
                  <a:pt x="17500330" y="9173780"/>
                </a:lnTo>
                <a:lnTo>
                  <a:pt x="0" y="9173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516802" y="1056970"/>
            <a:ext cx="11254397" cy="85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8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 xml:space="preserve">FUTURE </a:t>
            </a:r>
            <a:r>
              <a:rPr lang="en-US" sz="6398" b="1">
                <a:solidFill>
                  <a:srgbClr val="A4F6F9"/>
                </a:solidFill>
                <a:latin typeface="Tomorrow Bold"/>
                <a:ea typeface="Tomorrow Bold"/>
                <a:cs typeface="Tomorrow Bold"/>
                <a:sym typeface="Tomorrow Bold"/>
              </a:rPr>
              <a:t>SCOPE</a:t>
            </a:r>
          </a:p>
        </p:txBody>
      </p:sp>
      <p:sp>
        <p:nvSpPr>
          <p:cNvPr id="20" name="Content 20"/>
          <p:cNvSpPr txBox="1"/>
          <p:nvPr/>
        </p:nvSpPr>
        <p:spPr>
          <a:xfrm>
            <a:off x="1000000" y="2150000"/>
            <a:ext cx="16100000" cy="735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Computer Vision for Food Logging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Auto-detect food type &amp; quantity from photos — zero manual entry for donors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Predictive Demand Forecasting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Predict when/where surplus typically occurs so NGOs can pre-plan pickups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Spoilage Prediction Model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ML-based safe-consumption window estimation using food type &amp; ambient conditions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Multi-City &amp; Corporate Expansion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Partner with restaurant chains, event caterers, and grocery networks at scale</a:t>
            </a:r>
          </a:p>
          <a:p>
            <a:pPr marL="0" indent="0" algn="just">
              <a:spcBef>
                <a:spcPts val="2200"/>
              </a:spcBef>
              <a:buNone/>
            </a:pPr>
            <a:r>
              <a:rPr lang="en-US" sz="2800" b="1" dirty="0">
                <a:solidFill>
                  <a:srgbClr val="A4F6F9"/>
                </a:solidFill>
                <a:latin typeface="Calibri"/>
                <a:cs typeface="Calibri"/>
              </a:rPr>
              <a:t>Government &amp; CSR Integration</a:t>
            </a:r>
          </a:p>
          <a:p>
            <a:pPr marL="0" indent="0" algn="just">
              <a:spcBef>
                <a:spcPts val="300"/>
              </a:spcBef>
              <a:buNone/>
            </a:pPr>
            <a:r>
              <a:rPr lang="en-US" sz="2800" dirty="0">
                <a:solidFill>
                  <a:srgbClr val="C7D2E3"/>
                </a:solidFill>
                <a:latin typeface="Calibri"/>
                <a:cs typeface="Calibri"/>
              </a:rPr>
              <a:t>Plug into municipal food-safety programs and corporate CSR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751</Words>
  <Application>Microsoft Office PowerPoint</Application>
  <PresentationFormat>Custom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Tomorrow</vt:lpstr>
      <vt:lpstr>Arial</vt:lpstr>
      <vt:lpstr>Tomorrow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 2.0 Sponsorship Pitch Deck.pptx</dc:title>
  <dc:creator>Nabeel Ahmad</dc:creator>
  <cp:lastModifiedBy>Ghost .</cp:lastModifiedBy>
  <cp:revision>3</cp:revision>
  <dcterms:created xsi:type="dcterms:W3CDTF">2006-08-16T00:00:00Z</dcterms:created>
  <dcterms:modified xsi:type="dcterms:W3CDTF">2026-06-21T14:55:41Z</dcterms:modified>
  <dc:identifier>DAHMYY1hjrE</dc:identifier>
</cp:coreProperties>
</file>